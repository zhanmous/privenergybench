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005840"/>
            <a:ext cx="91440" cy="4389120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5852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15253F"/>
                </a:solidFill>
                <a:latin typeface="Noto Serif CJK SC"/>
              </a:defRPr>
            </a:pPr>
            <a:r>
              <a:t>从医学影像到类脑智能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6126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222D3E"/>
                </a:solidFill>
                <a:latin typeface="Noto Serif CJK SC"/>
              </a:defRPr>
            </a:pPr>
            <a:r>
              <a:t>我的研究实践与下一步计划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450592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606C7D"/>
                </a:solidFill>
                <a:latin typeface="Noto Sans CJK SC"/>
              </a:defRPr>
            </a:pPr>
            <a:r>
              <a:t>面试汇报 | 詹绍基 | 20分钟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816352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237486"/>
                </a:solidFill>
                <a:latin typeface="Noto Sans CJK SC"/>
              </a:defRPr>
            </a:pPr>
            <a:r>
              <a:t>关键词：SNN / 具身智能 / 可信AI / 隐私-能效-性能协同优化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3703320"/>
            <a:ext cx="2971800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992" y="3703320"/>
            <a:ext cx="297180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922776"/>
            <a:ext cx="256946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汇报结构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343400"/>
            <a:ext cx="2569464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  <a:br/>
            <a:r>
              <a:t>项目实证</a:t>
            </a:r>
            <a:br/>
            <a:r>
              <a:t>研究方法论与下一步计划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3703320"/>
            <a:ext cx="2926080" cy="15727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3703320"/>
            <a:ext cx="292608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3922776"/>
            <a:ext cx="25237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核心问题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4343400"/>
            <a:ext cx="2523744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在真实约束下，如何让类脑系统兼顾性能、隐私与能效？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097280"/>
            <a:ext cx="3337560" cy="4434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詹绍基证件照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9761" y="1261872"/>
            <a:ext cx="2565132" cy="374903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73568" y="5138928"/>
            <a:ext cx="3017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Suzhou University | Medical Imaging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5852160"/>
            <a:ext cx="33375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5253F"/>
                </a:solidFill>
                <a:latin typeface="Noto Sans CJK SC"/>
              </a:defRPr>
            </a:pPr>
            <a:r>
              <a:t>西湖大学金耀初实验室面试汇报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Personal background / Project evidence / Research outlook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325880"/>
            <a:ext cx="315468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325880"/>
            <a:ext cx="315468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545336"/>
            <a:ext cx="27523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01 个人背景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1965960"/>
            <a:ext cx="2752344" cy="576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教育结构、课程基础、问题意识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1325880"/>
            <a:ext cx="315468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26280" y="1325880"/>
            <a:ext cx="315468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1545336"/>
            <a:ext cx="27523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02 项目实证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8" y="1965960"/>
            <a:ext cx="2752344" cy="576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4个项目、真实图表、可复现实验链路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1325880"/>
            <a:ext cx="315468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38160" y="1325880"/>
            <a:ext cx="315468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8" y="1545336"/>
            <a:ext cx="27523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03 方向展望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1965960"/>
            <a:ext cx="2752344" cy="576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LeCun + Sutton 方法论、与金老师方向结合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3154680"/>
            <a:ext cx="103784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345643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这次汇报的重点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" y="3822191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不用概念堆砌，直接展示已经跑出来的结果和我下一步怎么做。</a:t>
            </a:r>
          </a:p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版式上采用更接近 beamer 的学术风格：主题条、页码导航、卡片式图文区。</a:t>
            </a:r>
          </a:p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内容上突出“项目证据”与“研究路线”的连续性。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1.1 基本信息与研究动机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Why this direction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078992"/>
            <a:ext cx="644652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135331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背景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1755648"/>
            <a:ext cx="5897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医学影像学本科，辅修计算机；法学本科在读。</a:t>
            </a:r>
          </a:p>
          <a:p>
            <a:pPr>
              <a:spcAft>
                <a:spcPts val="700"/>
              </a:spcAft>
              <a:defRPr sz="17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临床实习中直接感受到：模型不是只比精度，还要比时延、能耗、隐私与可部署性。</a:t>
            </a:r>
          </a:p>
          <a:p>
            <a:pPr>
              <a:spcAft>
                <a:spcPts val="700"/>
              </a:spcAft>
              <a:defRPr sz="17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因此我的研究兴趣逐步收敛到类脑计算、稀疏智能与可信AI。</a:t>
            </a:r>
          </a:p>
          <a:p>
            <a:pPr>
              <a:spcAft>
                <a:spcPts val="700"/>
              </a:spcAft>
              <a:defRPr sz="17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我更关注“能否形成持续研究链条”，而不是只做单次竞赛式结果。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1078992"/>
            <a:ext cx="2834640" cy="374903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詹绍基证件照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4925" y="1243584"/>
            <a:ext cx="2221029" cy="32461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55279" y="4937760"/>
            <a:ext cx="2606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22D3E"/>
                </a:solidFill>
                <a:latin typeface="Noto Sans CJK SC"/>
              </a:defRPr>
            </a:pPr>
            <a:r>
              <a:t>詹绍基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5230368"/>
            <a:ext cx="26060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0">
                <a:solidFill>
                  <a:srgbClr val="606C7D"/>
                </a:solidFill>
                <a:latin typeface="Noto Sans CJK SC"/>
              </a:defRPr>
            </a:pPr>
            <a:r>
              <a:t>医学影像 × 计算 × 法学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1.2 课程与能力结构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Coursework and toolkit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88720"/>
            <a:ext cx="324612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18872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40817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医学基础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1828800"/>
            <a:ext cx="2843784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人体解剖、分子生物学、内科学、外科学、影像诊断、超声、核医学、介入放射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62272" y="1188720"/>
            <a:ext cx="324612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62272" y="118872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140817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计算基础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1828800"/>
            <a:ext cx="2843784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数据结构、数据库原理、Python、离散数学；具备实验脚本、结果分析与可视化能力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1188720"/>
            <a:ext cx="3246120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10144" y="118872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2" y="140817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法学训练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1828800"/>
            <a:ext cx="2843784" cy="7589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民法、刑法、经济法、国际法、诉讼法；帮助我更重视规范性与可信边界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3246120"/>
            <a:ext cx="10332720" cy="2011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3547872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能力映射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" y="3895344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临床视角让我更容易定义有真实价值的问题。</a:t>
            </a:r>
          </a:p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计算训练让我能独立完成从实验设计到结果复现的全过程。</a:t>
            </a:r>
          </a:p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法学训练让我天然关注可信性、责任边界与应用约束。</a:t>
            </a:r>
          </a:p>
          <a:p>
            <a:pPr>
              <a:spcAft>
                <a:spcPts val="700"/>
              </a:spcAft>
              <a:defRPr sz="16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英语能力：CET-6 595，可阅读英文论文并进行日常学术交流。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1.3 我的真实动机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共生 · 求真 · 不害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097280"/>
            <a:ext cx="10332720" cy="4846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1417320"/>
            <a:ext cx="6217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5253F"/>
                </a:solidFill>
                <a:latin typeface="Noto Sans CJK SC"/>
              </a:defRPr>
            </a:pPr>
            <a:r>
              <a:t>我想做的不是单一模型，而是一条有价值底线的技术路线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1810512"/>
            <a:ext cx="7863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237486"/>
                </a:solidFill>
                <a:latin typeface="Noto Sans CJK SC"/>
              </a:defRPr>
            </a:pPr>
            <a:r>
              <a:t>动机来自“共生·求真·不害”：技术应服务连接、理解现实，并守住不伤害人的底线。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" y="2240280"/>
            <a:ext cx="30632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97280" y="2240280"/>
            <a:ext cx="30632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2459736"/>
            <a:ext cx="26609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医学为什么重要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2880360"/>
            <a:ext cx="2660904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医学训练给了我两个东西：第一是仿生直觉，类脑计算本来就从生命系统中取灵感；第二是我天然会从真实人体与临床约束出发，而不是只从模型指标出发。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53712" y="2240280"/>
            <a:ext cx="306324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53712" y="2240280"/>
            <a:ext cx="30632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0" y="2459736"/>
            <a:ext cx="26609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法学为什么重要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2880360"/>
            <a:ext cx="2660904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法学不是转行装饰，而是我理解技术边界的方式。做智能系统，隐私保护、责任边界、风险控制都不是附属议题，尤其在医疗和人机系统中更是核心约束。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2240280"/>
            <a:ext cx="269748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10144" y="2240280"/>
            <a:ext cx="269748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11312" y="2459736"/>
            <a:ext cx="229514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为什么是类脑计算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2880360"/>
            <a:ext cx="2295144" cy="1124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我更关注可落地的 physical AI。相较于纯黑盒 LLM/VLA 路线，类脑、稀疏、世界模型和结构化控制更贴近节能、可解释、可验证这三件事。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7280" y="5074920"/>
            <a:ext cx="996696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188720" y="5166359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8720" y="5184648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Position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59152" y="5166359"/>
            <a:ext cx="852220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我对纯 end-to-end 黑盒 VLA 保持审慎：真正可扩展的机器人智能，必须回到任务建模、几何/物理约束、规划控制与可解释评测。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2.1 项目总览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One continuous research chain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88720"/>
            <a:ext cx="242316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188720"/>
            <a:ext cx="24231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408176"/>
            <a:ext cx="20208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EmbodiedSNNPrototype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1828800"/>
            <a:ext cx="2020824" cy="6675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具身闭环环境中评估奖励调制可塑性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84448" y="1188720"/>
            <a:ext cx="242316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584448" y="1188720"/>
            <a:ext cx="24231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85615" y="1408176"/>
            <a:ext cx="20208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Neuro-Symbiosis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5615" y="1828800"/>
            <a:ext cx="2020824" cy="6675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SNN-Transformer 混合架构的 Pareto 与耦合分析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4496" y="1188720"/>
            <a:ext cx="242316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54496" y="1188720"/>
            <a:ext cx="24231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55664" y="1408176"/>
            <a:ext cx="20208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MedSparseSNN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5664" y="1828800"/>
            <a:ext cx="2020824" cy="6675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医学影像任务下性能、隐私与能耗的系统评估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24544" y="1188720"/>
            <a:ext cx="242316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24544" y="1188720"/>
            <a:ext cx="242316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25712" y="1408176"/>
            <a:ext cx="202082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PrivEnergyBench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25712" y="1828800"/>
            <a:ext cx="2020824" cy="6675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统一三目标评测基准与配置筛选视角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3063240"/>
            <a:ext cx="6812280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3172968"/>
            <a:ext cx="2752344" cy="19659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51560" y="5184648"/>
            <a:ext cx="6537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统一的 Pareto 评测视角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20" y="3063240"/>
            <a:ext cx="3218688" cy="2331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02752" y="3364992"/>
            <a:ext cx="1097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核心价值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3730752"/>
            <a:ext cx="2560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不是分散项目，而是共享同一问题框架。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从具身实验到医疗应用，再到统一benchmark。</a:t>
            </a:r>
          </a:p>
          <a:p>
            <a:pPr>
              <a:spcAft>
                <a:spcPts val="700"/>
              </a:spcAft>
              <a:defRPr sz="14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每一步都能和后续研究自然衔接。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2.2 EmbodiedSNN: 目标函数与模式对比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Plasticity vs fixed 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097280"/>
            <a:ext cx="498348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objective_by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268785"/>
            <a:ext cx="4764024" cy="240272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779007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objective by mode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097280"/>
            <a:ext cx="498348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fixed_vs_plas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068964"/>
            <a:ext cx="4764024" cy="28023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5779007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fixed vs plastic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可塑性策略整体更稳，在线适应不是装饰，而是行为质量的决定因素。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2.3 EmbodiedSNN: 行为收益与资源消耗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Reward-cost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097280"/>
            <a:ext cx="649224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ood_vs_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0933" y="1207007"/>
            <a:ext cx="5239173" cy="41605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413248"/>
            <a:ext cx="6217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food vs energy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26679" y="1097280"/>
            <a:ext cx="352044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food_eate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407" y="2780003"/>
            <a:ext cx="3300984" cy="10145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863840" y="5413248"/>
            <a:ext cx="3246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food heatmap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实验中出现清晰的收益-能耗权衡区间，这为后续规划与世界模型提供了可量化目标。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2.4 EmbodiedSNN: 脉冲活动可视化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Interpretability entry 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170432"/>
            <a:ext cx="8321040" cy="4736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r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1440179"/>
            <a:ext cx="8101583" cy="405079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696712"/>
            <a:ext cx="8046719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raster activity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55480" y="1170432"/>
            <a:ext cx="1709928" cy="4736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65792" y="1517904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价值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47504" y="1920240"/>
            <a:ext cx="1188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不只看最终回报。</a:t>
            </a:r>
          </a:p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活动模式可与行为联动分析。</a:t>
            </a:r>
          </a:p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适合作为可解释与因果分析入口。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脉冲层面的可视化，让我可以继续把“结果好”推进到“机制清楚”。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2.5 Neuro-Symbiosis: Pareto 前沿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Hybrid architecture advantage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097280"/>
            <a:ext cx="8321040" cy="4937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areto_base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1207007"/>
            <a:ext cx="6400800" cy="457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824728"/>
            <a:ext cx="8046719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Pareto baselines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55480" y="1097280"/>
            <a:ext cx="1709928" cy="4937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65792" y="146304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观察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47504" y="1847088"/>
            <a:ext cx="1188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单一模型并不总占优。</a:t>
            </a:r>
          </a:p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混合架构给出更合理折中。</a:t>
            </a:r>
          </a:p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可信AI应从多目标理解。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Pareto 视角比单一精度排名更接近真实部署逻辑。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2.6 Neuro-Symbiosis: 耦合机制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Coupling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097280"/>
            <a:ext cx="498348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upl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1802739"/>
            <a:ext cx="4764024" cy="33348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779007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3D coupling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097280"/>
            <a:ext cx="498348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oupling_2d_margi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03961"/>
            <a:ext cx="4764024" cy="17323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5779007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2D marginals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耦合强度会系统性改变性能与能耗，说明这类混合架构需要自动搜索而不是手工调参。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2.7 MedSparseSNN: 模型性能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Medical imaging benchmarks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097280"/>
            <a:ext cx="498348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odel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022258"/>
            <a:ext cx="4764024" cy="289577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779007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model performance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097280"/>
            <a:ext cx="498348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ross_dataset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549773"/>
            <a:ext cx="4764024" cy="184074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5779007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cross-dataset tradeoff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在医学影像任务中，稀疏 SNN 能维持竞争性能，同时给稳健性和低功耗部署留下空间。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2.8 MedSparseSNN: 隐私攻击面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Privacy risk under sparsity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188720"/>
            <a:ext cx="4983480" cy="4645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parsity_vs_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1985609"/>
            <a:ext cx="4764024" cy="29050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623559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sparsity vs MIA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188720"/>
            <a:ext cx="4983480" cy="4645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ransformer_sparsity_vs_m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984407"/>
            <a:ext cx="4764024" cy="290747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5623559"/>
            <a:ext cx="47091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spiking-transformer vs MIA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从隐私攻击面看，稀疏策略不是只省能耗，也在改变系统暴露出来的风险形态。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2.9 MedSparseSNN: 能效代价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Power and latency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188720"/>
            <a:ext cx="7498079" cy="4645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ower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611" y="1298448"/>
            <a:ext cx="6983656" cy="427939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623559"/>
            <a:ext cx="7223759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power vs latency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1417320"/>
            <a:ext cx="2148840" cy="1920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778240" y="1417320"/>
            <a:ext cx="21488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9408" y="1636776"/>
            <a:ext cx="17465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为什么单独放这一页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2057400"/>
            <a:ext cx="1746504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这一页以前和隐私图挤在一起，会让图表太小且被压缩。现在拆开后，坐标、图例和趋势线能清楚看见，也更符合你要求的“清晰舒展”。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低功耗不是附带收益，而是类脑路线在真实应用里必须兑现的核心价值。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2.10 PrivEnergyBench: 统一评测视图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Benchmark as research infrastructure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841248"/>
            <a:ext cx="1325880" cy="310896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850392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Noto Sans CJK SC"/>
              </a:defRPr>
            </a:pPr>
            <a:r>
              <a:t>Result 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1097280"/>
            <a:ext cx="8275320" cy="4919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461" y="1207007"/>
            <a:ext cx="6375196" cy="45537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806440"/>
            <a:ext cx="8001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default Pareto frontier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1097280"/>
            <a:ext cx="1755648" cy="4919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1481328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意义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928" y="1920240"/>
            <a:ext cx="1234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统一坐标比较。</a:t>
            </a:r>
          </a:p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筛选可部署解。</a:t>
            </a:r>
          </a:p>
          <a:p>
            <a:pPr>
              <a:spcAft>
                <a:spcPts val="700"/>
              </a:spcAft>
              <a:defRPr sz="13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支撑复现与搜索。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5413248"/>
            <a:ext cx="10332720" cy="566928"/>
          </a:xfrm>
          <a:prstGeom prst="round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5840" y="5504688"/>
            <a:ext cx="1005840" cy="384048"/>
          </a:xfrm>
          <a:prstGeom prst="roundRect">
            <a:avLst/>
          </a:prstGeom>
          <a:solidFill>
            <a:srgbClr val="BF9141"/>
          </a:solidFill>
          <a:ln w="10160">
            <a:solidFill>
              <a:srgbClr val="BF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22976"/>
            <a:ext cx="100584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Noto Sans CJK SC"/>
              </a:defRPr>
            </a:pPr>
            <a:r>
              <a:t>Key 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5504688"/>
            <a:ext cx="888796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Noto Sans CJK SC"/>
              </a:defRPr>
            </a:pPr>
            <a:r>
              <a:t>benchmark 不是附属品，而是研究质量与后续扩展能力的一部分。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2.11 项目小结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What I can already do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234440"/>
            <a:ext cx="1033272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155448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5253F"/>
                </a:solidFill>
                <a:latin typeface="Noto Sans CJK SC"/>
              </a:defRPr>
            </a:pPr>
            <a:r>
              <a:t>到目前为止，我已经形成了一条比较完整的研究执行链路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2194560"/>
            <a:ext cx="8412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任务定义：从真实场景约束出发，而不是只追逐流行模型。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实验执行：能独立完成脚本、训练、统计、可视化与报告。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结果解释：不只展示最优点，更强调 trade-off 和可复现性。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下一步扩展：把世界模型、在线学习和多目标搜索接进现有链路。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42832" y="1993392"/>
            <a:ext cx="1874519" cy="2212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42832" y="1993392"/>
            <a:ext cx="1874519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2212848"/>
            <a:ext cx="14721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能力标签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633472"/>
            <a:ext cx="1472184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问题定义</a:t>
            </a:r>
            <a:br/>
            <a:r>
              <a:t>实验复现</a:t>
            </a:r>
            <a:br/>
            <a:r>
              <a:t>多目标评估</a:t>
            </a:r>
            <a:br/>
            <a:r>
              <a:t>研究延展性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3.1 我的研究方法论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LeCun + Sutton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234440"/>
            <a:ext cx="324612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23444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45389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LeCun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1874519"/>
            <a:ext cx="284378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世界模型、自监督表征、长时规划。核心是学会抽象预测，而不是逐像素重建。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62272" y="1234440"/>
            <a:ext cx="324612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62272" y="123444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145389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Sutton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1874519"/>
            <a:ext cx="284378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通用方法、搜索与学习、拥抱算力扩展。核心是不要过度注入人类手工知识。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1234440"/>
            <a:ext cx="324612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10144" y="1234440"/>
            <a:ext cx="324612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2" y="1453896"/>
            <a:ext cx="284378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我的理解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1874519"/>
            <a:ext cx="2843784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架构上保持通用性，训练上追求可扩展，评测上坚持真实约束。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3749039"/>
            <a:ext cx="10332720" cy="1783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4069080"/>
            <a:ext cx="1371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222D3E"/>
                </a:solidFill>
                <a:latin typeface="Noto Sans CJK SC"/>
              </a:defRPr>
            </a:pPr>
            <a:r>
              <a:t>一句话概括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" y="4407408"/>
            <a:ext cx="9509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222D3E"/>
                </a:solidFill>
                <a:latin typeface="Noto Sans CJK SC"/>
              </a:defRPr>
            </a:pPr>
            <a:r>
              <a:t>我认同 LeCun 对世界模型和表征学习的强调，也认同 Sutton 对可扩展通用方法的坚持；我的路线是把二者放进可验证、可部署的实验框架里。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3.2 与金耀初近年方向的结合点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Fit with the lab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88720"/>
            <a:ext cx="48920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118872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140817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Trustworthy &amp; General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1828800"/>
            <a:ext cx="4489703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我已有隐私-能效-性能统一评测与 Pareto 分析基础。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188720"/>
            <a:ext cx="48920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118872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7" y="140817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Brain-like Embodied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1828800"/>
            <a:ext cx="4489703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EmbodiedSNN 已经给了我具身闭环和在线适应的实验入口。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2743200"/>
            <a:ext cx="48920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" y="274320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5568" y="296265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Large-scale SNN / Plasticity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3383280"/>
            <a:ext cx="4489703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我的 SNN 可塑性、稀疏化与混合架构工作能自然接续。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743200"/>
            <a:ext cx="48920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63640" y="2743200"/>
            <a:ext cx="48920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7" y="2962656"/>
            <a:ext cx="4489703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Evolution / Multi-objective Optimization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7" y="3383280"/>
            <a:ext cx="4489703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我当前的 benchmark 与 Pareto 视角正适合继续往自动搜索扩展。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4498848"/>
            <a:ext cx="1024128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791456"/>
            <a:ext cx="8229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判断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4519" y="4791456"/>
            <a:ext cx="81381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222D3E"/>
                </a:solidFill>
                <a:latin typeface="Noto Sans CJK SC"/>
              </a:defRPr>
            </a:pPr>
            <a:r>
              <a:t>我不是“想转方向去碰运气”，而是已有工作和实验室主轴存在明确接缝。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3.3 拟开展工作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World model for embodied SNN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88720"/>
            <a:ext cx="10332720" cy="4754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1517904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15253F"/>
                </a:solidFill>
                <a:latin typeface="Noto Sans CJK SC"/>
              </a:defRPr>
            </a:pPr>
            <a:r>
              <a:t>方向一：把 JEPA 式抽象预测引入具身 SNN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2048256"/>
            <a:ext cx="62179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目标：提升长时决策稳定性与跨场景泛化。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实验设计：无世界模型 / 像素预测 / 表征预测 三路线对比。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评测指标：任务回报、能耗、OOD 鲁棒性、迁移表现。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预期贡献：让具身 SNN 从“会动”走向“会规划”。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79" y="1847088"/>
            <a:ext cx="214884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83879" y="1847088"/>
            <a:ext cx="21488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8" y="2066543"/>
            <a:ext cx="17465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为什么值得做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8" y="2487168"/>
            <a:ext cx="1746504" cy="576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这条线能把我现有的具身实验和 LeCun 的世界模型方法真正接起来。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79" y="3621024"/>
            <a:ext cx="2148840" cy="1097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83879" y="3621024"/>
            <a:ext cx="21488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5048" y="3840480"/>
            <a:ext cx="17465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风险控制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4261104"/>
            <a:ext cx="1746504" cy="2560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先在小环境验证，再逐步扩大状态复杂度。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3.4 拟开展工作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Trustworthy neuromorphic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88720"/>
            <a:ext cx="10332720" cy="4754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1517904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15253F"/>
                </a:solidFill>
                <a:latin typeface="Noto Sans CJK SC"/>
              </a:defRPr>
            </a:pPr>
            <a:r>
              <a:t>方向二：可信与隐私约束下的类脑系统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2048256"/>
            <a:ext cx="6309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在联邦或分布式设置中评估 SNN-Transformer 混合架构。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把 MIA、DP 预算、能耗成本一起纳入统一目标。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使用多目标优化或进化搜索自动发现更优配置。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产出不仅是论文结果，也包括可复用 benchmark 与部署建议。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6448" y="1865376"/>
            <a:ext cx="2176272" cy="138988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56448" y="1865376"/>
            <a:ext cx="2176272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084832"/>
            <a:ext cx="177393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为什么适合实验室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2505456"/>
            <a:ext cx="177393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它同时贴合 trustworthy AI、SNN 和多目标优化三条主线。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6448" y="3602736"/>
            <a:ext cx="2176272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56448" y="3602736"/>
            <a:ext cx="2176272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7616" y="3822191"/>
            <a:ext cx="177393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我的优势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7616" y="4242816"/>
            <a:ext cx="1773936" cy="274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我已经把三目标评测与图表链路搭起来了。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B"/>
          </a:solidFill>
          <a:ln w="10160">
            <a:solidFill>
              <a:srgbClr val="F8F9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76656"/>
          </a:xfrm>
          <a:prstGeom prst="rect">
            <a:avLst/>
          </a:prstGeom>
          <a:solidFill>
            <a:srgbClr val="15253F"/>
          </a:solidFill>
          <a:ln w="10160">
            <a:solidFill>
              <a:srgbClr val="152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" y="676656"/>
            <a:ext cx="73152" cy="5596128"/>
          </a:xfrm>
          <a:prstGeom prst="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"/>
            <a:ext cx="74980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Noto Serif CJK SC"/>
              </a:defRPr>
            </a:pPr>
            <a:r>
              <a:t>3.5 结束页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4630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>
                <a:solidFill>
                  <a:srgbClr val="E2E7ED"/>
                </a:solidFill>
                <a:latin typeface="Noto Sans CJK SC"/>
              </a:defRPr>
            </a:pPr>
            <a:r>
              <a:t>Why 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73368"/>
            <a:ext cx="11155680" cy="18288"/>
          </a:xfrm>
          <a:prstGeom prst="rect">
            <a:avLst/>
          </a:prstGeom>
          <a:solidFill>
            <a:srgbClr val="D6DCE4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008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06C7D"/>
                </a:solidFill>
                <a:latin typeface="Noto Sans CJK SC"/>
              </a:defRPr>
            </a:pPr>
            <a:r>
              <a:t>詹绍基 | 面试汇报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382512"/>
            <a:ext cx="457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1">
                <a:solidFill>
                  <a:srgbClr val="15253F"/>
                </a:solidFill>
                <a:latin typeface="Noto Sans CJK SC"/>
              </a:defRPr>
            </a:pPr>
            <a: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开场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76672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个人背景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41464" y="6400800"/>
            <a:ext cx="1691640" cy="164592"/>
          </a:xfrm>
          <a:prstGeom prst="roundRect">
            <a:avLst/>
          </a:prstGeom>
          <a:solidFill>
            <a:srgbClr val="DBE0E7"/>
          </a:solidFill>
          <a:ln w="1016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41464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606C7D"/>
                </a:solidFill>
                <a:latin typeface="Noto Sans CJK SC"/>
              </a:defRPr>
            </a:pPr>
            <a:r>
              <a:t>项目实证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6400800"/>
            <a:ext cx="1691640" cy="164592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06256" y="6400800"/>
            <a:ext cx="169164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Noto Sans CJK SC"/>
              </a:defRPr>
            </a:pPr>
            <a:r>
              <a:t>方向展望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1143000"/>
            <a:ext cx="10332720" cy="4892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0432" y="153619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>
                <a:solidFill>
                  <a:srgbClr val="15253F"/>
                </a:solidFill>
                <a:latin typeface="Noto Sans CJK SC"/>
              </a:defRPr>
            </a:pPr>
            <a:r>
              <a:t>为什么我适合进入这个方向继续做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2139696"/>
            <a:ext cx="6675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跨医学-计算-法学背景，使我会同时考虑算法、场景与规范。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已经具备从实验搭建、图表分析到汇报表达的独立执行能力。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研究兴趣稳定，愿意长期投入类脑智能与可信AI交叉方向。</a:t>
            </a:r>
          </a:p>
          <a:p>
            <a:pPr>
              <a:spcAft>
                <a:spcPts val="700"/>
              </a:spcAft>
              <a:defRPr sz="1800">
                <a:solidFill>
                  <a:srgbClr val="222D3E"/>
                </a:solidFill>
                <a:latin typeface="Noto Sans CJK SC"/>
              </a:defRPr>
            </a:pPr>
            <a:r>
              <a:rPr>
                <a:solidFill>
                  <a:srgbClr val="222D3E"/>
                </a:solidFill>
              </a:rPr>
              <a:t>希望在金老师团队把已有研究链条继续做深做实。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6448" y="2084831"/>
            <a:ext cx="2377440" cy="16642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D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56448" y="2084831"/>
            <a:ext cx="2377440" cy="146304"/>
          </a:xfrm>
          <a:prstGeom prst="roundRect">
            <a:avLst/>
          </a:prstGeom>
          <a:solidFill>
            <a:srgbClr val="237486"/>
          </a:solidFill>
          <a:ln w="10160">
            <a:solidFill>
              <a:srgbClr val="2374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304287"/>
            <a:ext cx="1975104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22D3E"/>
                </a:solidFill>
                <a:latin typeface="Noto Sans CJK SC"/>
              </a:defRPr>
            </a:pPr>
            <a:r>
              <a:t>最后一句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2724911"/>
            <a:ext cx="197510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606C7D"/>
                </a:solidFill>
                <a:latin typeface="Noto Sans CJK SC"/>
              </a:defRPr>
            </a:pPr>
            <a:r>
              <a:t>我带来的不是一串零散项目，而是一条已经开始成形的研究路线。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321808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0">
                <a:solidFill>
                  <a:srgbClr val="237486"/>
                </a:solidFill>
                <a:latin typeface="Noto Sans CJK SC"/>
              </a:defRPr>
            </a:pPr>
            <a:r>
              <a:t>感谢各位老师，欢迎批评指正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