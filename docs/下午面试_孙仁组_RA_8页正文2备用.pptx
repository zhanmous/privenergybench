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Noto Serif CJK SC"/>
              </a:defRPr>
            </a:pPr>
            <a:r>
              <a:t>孙仁教授课题组科研助理岗位应聘汇报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8046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22540"/>
                </a:solidFill>
                <a:latin typeface="Noto Sans CJK SC"/>
              </a:defRPr>
            </a:pPr>
            <a:r>
              <a:t>姓名：詹绍基 | 学历：苏州大学医学影像学本科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606C7D"/>
                </a:solidFill>
                <a:latin typeface="Noto Sans CJK SC"/>
              </a:defRPr>
            </a:pPr>
            <a:r>
              <a:t>汇报时长：20分钟 | 18550954831 | z1309457869@163.com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468880"/>
            <a:ext cx="333756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今天重点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99232"/>
            <a:ext cx="297180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我和岗位的匹配度</a:t>
            </a:r>
            <a:br/>
            <a:r>
              <a:t>我能给团队的价值</a:t>
            </a:r>
            <a:br/>
            <a:r>
              <a:t>入职后的执行计划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6888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2468880"/>
            <a:ext cx="333756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面试定位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99232"/>
            <a:ext cx="297180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围绕岗位职责回答</a:t>
            </a:r>
            <a:br/>
            <a:r>
              <a:t>不跑偏、不堆砌技术细节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68880"/>
            <a:ext cx="333756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2468880"/>
            <a:ext cx="333756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651760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999232"/>
            <a:ext cx="297180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快速上手</a:t>
            </a:r>
            <a:br/>
            <a:r>
              <a:t>稳定交付</a:t>
            </a:r>
            <a:br/>
            <a:r>
              <a:t>长期深耕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本次汇报以岗位需求为中心：证明我能快速上手并持续为课题组创造价值。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erif CJK SC"/>
              </a:defRPr>
            </a:pPr>
            <a:r>
              <a:t>2. 个人核心背景与能力总览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E2E7ED"/>
                </a:solidFill>
                <a:latin typeface="Noto Sans CJK SC"/>
              </a:defRPr>
            </a:pPr>
            <a:r>
              <a:t>Background and 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06C7D"/>
                </a:solidFill>
                <a:latin typeface="Noto Sans CJK SC"/>
              </a:defRPr>
            </a:pPr>
            <a:r>
              <a:t>詹绍基 | 孙仁组科研助理面试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12254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217485"/>
          </a:solidFill>
          <a:ln w="1651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核心匹配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执行规划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收尾备用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35331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教育背景时间线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1700784"/>
            <a:ext cx="9784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22D3E"/>
                </a:solidFill>
                <a:latin typeface="Noto Sans CJK SC"/>
              </a:defRPr>
            </a:pPr>
            <a:r>
              <a:t>苏州大学 医学影像学（辅修计算机） 2019.09-2024.06 | 1年三甲医院临床实习经验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1993392"/>
            <a:ext cx="9784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22D3E"/>
                </a:solidFill>
                <a:latin typeface="Noto Sans CJK SC"/>
              </a:defRPr>
            </a:pPr>
            <a:r>
              <a:t>北京师范大学 法学（第二学士学位） 2024.09-2026.07（预计）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880360"/>
            <a:ext cx="489204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2880360"/>
            <a:ext cx="489204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063240"/>
            <a:ext cx="4526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医学基础能力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10712"/>
            <a:ext cx="4526279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熟悉临床科研规范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401568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540"/>
                </a:solidFill>
                <a:latin typeface="Noto Sans CJK SC"/>
              </a:defRPr>
            </a:pPr>
            <a:r>
              <a:t>病毒、免疫、疫苗研发医学逻辑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880360"/>
            <a:ext cx="489204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2880360"/>
            <a:ext cx="489204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063240"/>
            <a:ext cx="4526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数据与编程能力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410712"/>
            <a:ext cx="4526279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支持系统生物学数据处理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401568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540"/>
                </a:solidFill>
                <a:latin typeface="Noto Sans CJK SC"/>
              </a:defRPr>
            </a:pPr>
            <a:r>
              <a:t>Python 统计分析与可视化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00600"/>
            <a:ext cx="48920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4800600"/>
            <a:ext cx="489204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983480"/>
            <a:ext cx="4526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全流程科研能力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330952"/>
            <a:ext cx="4526279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可闭环协同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321808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540"/>
                </a:solidFill>
                <a:latin typeface="Noto Sans CJK SC"/>
              </a:defRPr>
            </a:pPr>
            <a:r>
              <a:t>实验执行 - 数据处理 - 报告写作闭环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800600"/>
            <a:ext cx="48920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55080" y="4800600"/>
            <a:ext cx="489204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983480"/>
            <a:ext cx="4526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英语与文献能力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330952"/>
            <a:ext cx="4526279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CET-6 595分</a:t>
            </a:r>
            <a:br/>
            <a:r>
              <a:t>可读写英文文献并支持论文协作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医学基础+数据能力+科研素养与严谨性，完全匹配课题组科研助理岗位的核心需求。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erif CJK SC"/>
              </a:defRPr>
            </a:pPr>
            <a:r>
              <a:t>3. 对课题组研究方向的理解与契合点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E2E7ED"/>
                </a:solidFill>
                <a:latin typeface="Noto Sans CJK SC"/>
              </a:defRPr>
            </a:pPr>
            <a:r>
              <a:t>Direction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06C7D"/>
                </a:solidFill>
                <a:latin typeface="Noto Sans CJK SC"/>
              </a:defRPr>
            </a:pPr>
            <a:r>
              <a:t>詹绍基 | 孙仁组科研助理面试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12254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217485"/>
          </a:solidFill>
          <a:ln w="1651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核心匹配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执行规划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收尾备用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234440"/>
            <a:ext cx="32461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1234440"/>
            <a:ext cx="324612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1417320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方向A：病毒基因组精准功能定位与疫苗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764792"/>
            <a:ext cx="288036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团队方向：单核苷酸精度功能图谱与精准减毒疫苗设计（Du et al., Science 2018）</a:t>
            </a:r>
            <a:br/>
            <a:r>
              <a:t>我的契合：医学理解 + 数据分析，支撑筛选数据统计与解读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2272" y="1234440"/>
            <a:ext cx="32461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62272" y="1234440"/>
            <a:ext cx="324612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1417320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方向B：感染后与接种后免疫反应评价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1764792"/>
            <a:ext cx="288036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团队方向：抗体特异性与T/B细胞机制系统评估</a:t>
            </a:r>
            <a:br/>
            <a:r>
              <a:t>我的契合：临床免疫检测逻辑 + 结果可视化能力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1234440"/>
            <a:ext cx="32461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10144" y="1234440"/>
            <a:ext cx="324612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1417320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方向C：蛋白结构与功能研究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1764792"/>
            <a:ext cx="288036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团队方向：体外进化+结构解析+质谱，开发蛋白/多肽结合体（Dai X et al., Nature 2017/2018）</a:t>
            </a:r>
            <a:br/>
            <a:r>
              <a:t>我的契合：严谨对照思维 + 数据质控与分析协同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我的能力体系可全面适配课题组三大方向，可快速融入并支撑课题推进。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erif CJK SC"/>
              </a:defRPr>
            </a:pPr>
            <a:r>
              <a:t>4. 核心科研实践与能力证明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E2E7ED"/>
                </a:solidFill>
                <a:latin typeface="Noto Sans CJK SC"/>
              </a:defRPr>
            </a:pPr>
            <a:r>
              <a:t>Transferable 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06C7D"/>
                </a:solidFill>
                <a:latin typeface="Noto Sans CJK SC"/>
              </a:defRPr>
            </a:pPr>
            <a:r>
              <a:t>詹绍基 | 孙仁组科研助理面试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12254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核心匹配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217485"/>
          </a:solidFill>
          <a:ln w="1651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执行规划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收尾备用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41732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实践一：科研全流程执行能力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1737360"/>
            <a:ext cx="9784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独立完成实验设计、对照实验、数据统计、图表与报告输出。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基于Python完成全流程数据统计、多维度分析与学术图表可视化。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产出4份完整实验报告、10+组学术图表，过程可复查可复现。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可迁移到岗位：实验执行、记录归档、数据分析与结果汇报。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383280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实践二：医院临床实习与科研辅助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85032"/>
            <a:ext cx="9784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1年三甲医院实习，熟悉临床科研规范、伦理与合规要求。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参与数据整理、统计分析和科研图表绘制。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可迁移到岗位：规范实验流程、严谨记录、合规协作。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我已具备科研助理所需的实验执行、数据处理、报告撰写、规范管理全流程能力，入职即可上手。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erif CJK SC"/>
              </a:defRPr>
            </a:pPr>
            <a:r>
              <a:t>5. 岗位职责与应聘要求100%对标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E2E7ED"/>
                </a:solidFill>
                <a:latin typeface="Noto Sans CJK SC"/>
              </a:defRPr>
            </a:pPr>
            <a:r>
              <a:t>Requirement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06C7D"/>
                </a:solidFill>
                <a:latin typeface="Noto Sans CJK SC"/>
              </a:defRPr>
            </a:pPr>
            <a:r>
              <a:t>詹绍基 | 孙仁组科研助理面试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122540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核心匹配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217485"/>
          </a:solidFill>
          <a:ln w="1651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执行规划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收尾备用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234440"/>
            <a:ext cx="489204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1234440"/>
            <a:ext cx="489204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1417320"/>
            <a:ext cx="4526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职责1：参与生物实验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764792"/>
            <a:ext cx="4526279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可通过系统学习快速掌握分子克隆、流式、小鼠实验等核心技术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1755648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540"/>
                </a:solidFill>
                <a:latin typeface="Noto Sans CJK SC"/>
              </a:defRPr>
            </a:pPr>
            <a:r>
              <a:t>实验执行与规范记录能力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234440"/>
            <a:ext cx="489204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1234440"/>
            <a:ext cx="489204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417320"/>
            <a:ext cx="4526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职责2：记录+统计+分析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764792"/>
            <a:ext cx="4526279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可按时提交记录报告，并形成稳定数据输出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755648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540"/>
                </a:solidFill>
                <a:latin typeface="Noto Sans CJK SC"/>
              </a:defRPr>
            </a:pPr>
            <a:r>
              <a:t>独立完成数据统计分析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246120"/>
            <a:ext cx="489204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3246120"/>
            <a:ext cx="489204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429000"/>
            <a:ext cx="4526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职责3：论文与综述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776472"/>
            <a:ext cx="4526279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可协助文献检索、图表绘制、结果段落整理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767328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540"/>
                </a:solidFill>
                <a:latin typeface="Noto Sans CJK SC"/>
              </a:defRPr>
            </a:pPr>
            <a:r>
              <a:t>协助论文写作流程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246120"/>
            <a:ext cx="489204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5080" y="3246120"/>
            <a:ext cx="489204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429000"/>
            <a:ext cx="4526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职责4：PI交办协作任务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776472"/>
            <a:ext cx="4526279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匹配：主动负责、沟通顺畅、按节点交付</a:t>
            </a:r>
            <a:br/>
            <a:r>
              <a:t>可稳定支持团队协同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149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06C7D"/>
                </a:solidFill>
                <a:latin typeface="Noto Sans CJK SC"/>
              </a:defRPr>
            </a:pPr>
            <a:r>
              <a:t>硬条件核对：本科及以上学历 / 英文文献能力 / 责任心与团队协作，均满足。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岗位职责和应聘条件逐条对齐，我可以全面胜任科研助理的各项核心工作。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erif CJK SC"/>
              </a:defRPr>
            </a:pPr>
            <a:r>
              <a:t>6. 入职后0-6个月工作规划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E2E7ED"/>
                </a:solidFill>
                <a:latin typeface="Noto Sans CJK SC"/>
              </a:defRPr>
            </a:pPr>
            <a:r>
              <a:t>Execution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06C7D"/>
                </a:solidFill>
                <a:latin typeface="Noto Sans CJK SC"/>
              </a:defRPr>
            </a:pPr>
            <a:r>
              <a:t>詹绍基 | 孙仁组科研助理面试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122540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核心匹配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217485"/>
          </a:solidFill>
          <a:ln w="1651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执行规划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收尾备用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234440"/>
            <a:ext cx="32461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1234440"/>
            <a:ext cx="324612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1417320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第1个月：快速融入期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764792"/>
            <a:ext cx="288036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熟悉实验室SOP、设备与规章</a:t>
            </a:r>
            <a:br/>
            <a:r>
              <a:t>精读代表性论文5-10篇</a:t>
            </a:r>
            <a:br/>
            <a:r>
              <a:t>完成基础辅助工作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2272" y="1234440"/>
            <a:ext cx="32461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62272" y="1234440"/>
            <a:ext cx="324612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1417320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第2-3个月：技能上手期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1764792"/>
            <a:ext cx="288036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掌握基础生物实验技术</a:t>
            </a:r>
            <a:br/>
            <a:r>
              <a:t>完成数据整理、统计分析与图表</a:t>
            </a:r>
            <a:br/>
            <a:r>
              <a:t>协助文献梳理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1234440"/>
            <a:ext cx="32461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10144" y="1234440"/>
            <a:ext cx="3246120" cy="128016"/>
          </a:xfrm>
          <a:prstGeom prst="round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1417320"/>
            <a:ext cx="2880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22D3E"/>
                </a:solidFill>
                <a:latin typeface="Noto Sans CJK SC"/>
              </a:defRPr>
            </a:pPr>
            <a:r>
              <a:t>第4-6个月：独立执行期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1764792"/>
            <a:ext cx="288036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06C7D"/>
                </a:solidFill>
                <a:latin typeface="Noto Sans CJK SC"/>
              </a:defRPr>
            </a:pPr>
            <a:r>
              <a:t>承担子实验模块并规范交付</a:t>
            </a:r>
            <a:br/>
            <a:r>
              <a:t>协助论文图表与初稿材料</a:t>
            </a:r>
            <a:br/>
            <a:r>
              <a:t>持续输出文献综述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5568" y="4617720"/>
            <a:ext cx="2834640" cy="566928"/>
          </a:xfrm>
          <a:prstGeom prst="roundRect">
            <a:avLst/>
          </a:prstGeom>
          <a:solidFill>
            <a:srgbClr val="E6F2F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4718304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22540"/>
                </a:solidFill>
                <a:latin typeface="Noto Sans CJK SC"/>
              </a:defRPr>
            </a:pPr>
            <a:r>
              <a:t>交付物：SOP学习笔记 + 代表论文精读报告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4617720"/>
            <a:ext cx="2834640" cy="566928"/>
          </a:xfrm>
          <a:prstGeom prst="roundRect">
            <a:avLst/>
          </a:prstGeom>
          <a:solidFill>
            <a:srgbClr val="E6F2F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718304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22540"/>
                </a:solidFill>
                <a:latin typeface="Noto Sans CJK SC"/>
              </a:defRPr>
            </a:pPr>
            <a:r>
              <a:t>交付物：规范实验记录模板 + 实验数据分析报告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11312" y="4617720"/>
            <a:ext cx="2834640" cy="566928"/>
          </a:xfrm>
          <a:prstGeom prst="roundRect">
            <a:avLst/>
          </a:prstGeom>
          <a:solidFill>
            <a:srgbClr val="E6F2F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2" y="4718304"/>
            <a:ext cx="2560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22540"/>
                </a:solidFill>
                <a:latin typeface="Noto Sans CJK SC"/>
              </a:defRPr>
            </a:pPr>
            <a:r>
              <a:t>交付物：独立子实验完整报告 + 领域综述初稿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执行路径清晰可落地：快速融入、稳步上手、形成独立可交付能力。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erif CJK SC"/>
              </a:defRPr>
            </a:pPr>
            <a:r>
              <a:t>7. 长期发展目标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E2E7ED"/>
                </a:solidFill>
                <a:latin typeface="Noto Sans CJK SC"/>
              </a:defRPr>
            </a:pPr>
            <a:r>
              <a:t>Team-first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06C7D"/>
                </a:solidFill>
                <a:latin typeface="Noto Sans CJK SC"/>
              </a:defRPr>
            </a:pPr>
            <a:r>
              <a:t>詹绍基 | 孙仁组科研助理面试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122540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核心匹配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217485"/>
          </a:solidFill>
          <a:ln w="1651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执行规划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收尾备用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150876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22D3E"/>
                </a:solidFill>
                <a:latin typeface="Noto Sans CJK SC"/>
              </a:defRPr>
            </a:pPr>
            <a:r>
              <a:t>长期目标：深耕病毒学、疫苗研发与系统免疫组学方向，未来攻读本方向博士。</a:t>
            </a:r>
          </a:p>
          <a:p>
            <a:pPr>
              <a:spcAft>
                <a:spcPts val="400"/>
              </a:spcAft>
              <a:defRPr sz="1600">
                <a:solidFill>
                  <a:srgbClr val="222D3E"/>
                </a:solidFill>
                <a:latin typeface="Noto Sans CJK SC"/>
              </a:defRPr>
            </a:pPr>
            <a:r>
              <a:t>优先路径：先在科研助理阶段完成高质量交付，优先申请孙仁老师团队博士，基于科研助理阶段的成果积累实现无缝衔接。</a:t>
            </a:r>
          </a:p>
          <a:p>
            <a:pPr>
              <a:spcAft>
                <a:spcPts val="400"/>
              </a:spcAft>
              <a:defRPr sz="1600">
                <a:solidFill>
                  <a:srgbClr val="222D3E"/>
                </a:solidFill>
                <a:latin typeface="Noto Sans CJK SC"/>
              </a:defRPr>
            </a:pPr>
            <a:r>
              <a:t>工作原则：团队任务第一优先，用实际成果证明价值，再推进个人成长。</a:t>
            </a:r>
          </a:p>
          <a:p>
            <a:pPr>
              <a:spcAft>
                <a:spcPts val="400"/>
              </a:spcAft>
              <a:defRPr sz="1600">
                <a:solidFill>
                  <a:srgbClr val="222D3E"/>
                </a:solidFill>
                <a:latin typeface="Noto Sans CJK SC"/>
              </a:defRPr>
            </a:pPr>
            <a:r>
              <a:t>底线承诺：无论后续发展，均完成手头任务并做好项目交接、数据和文档沉淀。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以团队发展为第一优先，规划清晰且稳定，可与课题组实现双赢成长。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erif CJK SC"/>
              </a:defRPr>
            </a:pPr>
            <a:r>
              <a:t>8. 致谢与Q&amp;A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E2E7ED"/>
                </a:solidFill>
                <a:latin typeface="Noto Sans CJK SC"/>
              </a:defRPr>
            </a:pPr>
            <a:r>
              <a:t>Thanks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06C7D"/>
                </a:solidFill>
                <a:latin typeface="Noto Sans CJK SC"/>
              </a:defRPr>
            </a:pPr>
            <a:r>
              <a:t>詹绍基 | 孙仁组科研助理面试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122540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核心匹配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执行规划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217485"/>
          </a:solidFill>
          <a:ln w="1651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收尾备用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417320"/>
            <a:ext cx="103327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874519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122540"/>
                </a:solidFill>
                <a:latin typeface="Noto Serif CJK SC"/>
              </a:defRPr>
            </a:pPr>
            <a:r>
              <a:t>感谢孙老师和各位老师的聆听！欢迎批评指正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2608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222D3E"/>
                </a:solidFill>
                <a:latin typeface="Noto Sans CJK SC"/>
              </a:defRPr>
            </a:pPr>
            <a:r>
              <a:t>詹绍基 | 18550954831 | z1309457869@163.com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73075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06C7D"/>
                </a:solidFill>
                <a:latin typeface="Noto Sans CJK SC"/>
              </a:defRPr>
            </a:pPr>
            <a:r>
              <a:t>可提供过往实验的完整报告、代码与原始数据，确保全流程可复现。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期待加入团队，全力配合科研工作，在稳定交付中持续成长。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erif CJK SC"/>
              </a:defRPr>
            </a:pPr>
            <a:r>
              <a:t>备用页A：过往科研成果详细数据与报告摘要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E2E7ED"/>
                </a:solidFill>
                <a:latin typeface="Noto Sans CJK SC"/>
              </a:defRPr>
            </a:pPr>
            <a:r>
              <a:t>Backup 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06C7D"/>
                </a:solidFill>
                <a:latin typeface="Noto Sans CJK SC"/>
              </a:defRPr>
            </a:pPr>
            <a:r>
              <a:t>詹绍基 | 孙仁组科研助理面试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122540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核心匹配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执行规划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217485"/>
          </a:solidFill>
          <a:ln w="1651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收尾备用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554480"/>
            <a:ext cx="9875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实验报告摘要：4份完整实验报告（问题定义、实验设计、结果分析、结论）。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数据证据：10+组学术图表与统计表格，支持结果追溯。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流程证据：实验记录模板、数据清洗脚本、结果复现说明。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追问用途：证明科研能力、数据处理能力、实验严谨性。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备用页A用于快速回应“你能不能独立做事、做得是否严谨”的追问。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 w="10160"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676656"/>
            <a:ext cx="73152" cy="5596128"/>
          </a:xfrm>
          <a:prstGeom prst="rect">
            <a:avLst/>
          </a:prstGeom>
          <a:solidFill>
            <a:srgbClr val="217485"/>
          </a:solidFill>
          <a:ln w="10160">
            <a:solidFill>
              <a:srgbClr val="217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erif CJK SC"/>
              </a:defRPr>
            </a:pPr>
            <a:r>
              <a:t>备用页B：领域核心文献阅读清单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2971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E2E7ED"/>
                </a:solidFill>
                <a:latin typeface="Noto Sans CJK SC"/>
              </a:defRPr>
            </a:pPr>
            <a:r>
              <a:t>Backup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73368"/>
            <a:ext cx="11155680" cy="18288"/>
          </a:xfrm>
          <a:prstGeom prst="rect">
            <a:avLst/>
          </a:prstGeom>
          <a:solidFill>
            <a:srgbClr val="D6DCE4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06C7D"/>
                </a:solidFill>
                <a:latin typeface="Noto Sans CJK SC"/>
              </a:defRPr>
            </a:pPr>
            <a:r>
              <a:t>詹绍基 | 孙仁组科研助理面试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825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122540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核心匹配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能力证明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4" y="6400800"/>
            <a:ext cx="1691640" cy="164592"/>
          </a:xfrm>
          <a:prstGeom prst="roundRect">
            <a:avLst/>
          </a:prstGeom>
          <a:solidFill>
            <a:srgbClr val="DBE0E7"/>
          </a:solidFill>
          <a:ln w="10160">
            <a:solidFill>
              <a:srgbClr val="DB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1464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06C7D"/>
                </a:solidFill>
                <a:latin typeface="Noto Sans CJK SC"/>
              </a:defRPr>
            </a:pPr>
            <a:r>
              <a:t>执行规划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6400800"/>
            <a:ext cx="1691640" cy="164592"/>
          </a:xfrm>
          <a:prstGeom prst="roundRect">
            <a:avLst/>
          </a:prstGeom>
          <a:solidFill>
            <a:srgbClr val="217485"/>
          </a:solidFill>
          <a:ln w="1651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6400800"/>
            <a:ext cx="1691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CJK SC"/>
              </a:defRPr>
            </a:pPr>
            <a:r>
              <a:t>收尾备用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097280"/>
            <a:ext cx="103327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1554480"/>
            <a:ext cx="9875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孙仁团队代表作：Science 2018（流感疫苗设计）；Nature 2017/2018（结构解析）。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病毒功能图谱：mBio 2017；PNAS 2017；Cell Host Microbe 2016；NPJ Vaccines 2020。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阅读脉络：病毒基因组功能定位 -&gt; 免疫逃逸机制 -&gt; 疫苗设计策略。</a:t>
            </a:r>
          </a:p>
          <a:p>
            <a:pPr>
              <a:spcAft>
                <a:spcPts val="400"/>
              </a:spcAft>
              <a:defRPr sz="1500">
                <a:solidFill>
                  <a:srgbClr val="222D3E"/>
                </a:solidFill>
                <a:latin typeface="Noto Sans CJK SC"/>
              </a:defRPr>
            </a:pPr>
            <a:r>
              <a:t>追问用途：证明我对团队研究脉络做过系统准备，不是临时应付。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122540"/>
          </a:solidFill>
          <a:ln w="10160">
            <a:solidFill>
              <a:srgbClr val="12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504688"/>
            <a:ext cx="1051560" cy="384048"/>
          </a:xfrm>
          <a:prstGeom prst="roundRect">
            <a:avLst/>
          </a:prstGeom>
          <a:solidFill>
            <a:srgbClr val="BF9141"/>
          </a:solidFill>
          <a:ln w="10160">
            <a:solidFill>
              <a:srgbClr val="BF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22976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5504688"/>
            <a:ext cx="8869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备用页B用于回答“对团队方向理解深度与文献功课”的追问。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